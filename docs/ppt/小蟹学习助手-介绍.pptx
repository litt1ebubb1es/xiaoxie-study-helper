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开场：它记笔记、攒问题、判回看点、出题，四件事都由你听课时的动作触发。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停两秒。这句是整套设计的出发点，也解释了为什么笔记要挂在时间轴上。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这页回应「是不是只会判卡点」——记笔记、出题、答题闭环都在这里。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强调第二步和第三步之间没有人工干预，跑完直接能用。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让截图自己说话，只补一句：界面上每个数都能点开看依据。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这页专门讲「记笔记 + 出问题」，别被前面几页的判定逻辑盖住。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这页放真机截图：左边四句是规则，右边是刚出的一组题。强调『出处查不到就作废』——宁可少一题，也不让假题进掌握度。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这张表回答「会不会很重」：能省就省，省不了才花。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左边每条都是主动放弃的能力，讲的时候给出原因：隐私、可信、可解释。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收尾就一句谢谢，不再堆数据。要现场演示就接这句「双击图标，点生成演示会话」。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3.pn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AD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5120640"/>
            <a:ext cx="822960" cy="54864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sz="1400" b="1">
                <a:solidFill>
                  <a:srgbClr val="8F340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桌面应用 · PySide6 · 端侧运行</a:t>
            </a:r>
            <a:endParaRPr sz="1400" b="1">
              <a:solidFill>
                <a:srgbClr val="8F340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6035040" cy="18268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750"/>
              </a:lnSpc>
            </a:pPr>
            <a:r>
              <a:rPr sz="4400" b="1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小蟹学习助手</a:t>
            </a:r>
            <a:endParaRPr sz="4400" b="1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4750"/>
              </a:lnSpc>
            </a:pPr>
            <a:r>
              <a:rPr sz="3600" b="1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让每一节网课，</a:t>
            </a:r>
            <a:endParaRPr sz="3600" b="1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4750"/>
              </a:lnSpc>
            </a:pPr>
            <a:r>
              <a:rPr sz="3600" b="1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都记得住你在哪一秒卡住</a:t>
            </a:r>
            <a:endParaRPr sz="3600" b="1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3200400"/>
            <a:ext cx="5486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80"/>
              </a:lnSpc>
            </a:pPr>
            <a:endParaRPr sz="18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Picture 7" descr="crab_c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4207" y="1874519"/>
            <a:ext cx="448056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376672"/>
            <a:ext cx="5486400" cy="236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sz="14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网课学习助手项目 · 2026-10</a:t>
            </a:r>
            <a:endParaRPr sz="14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AD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4" name="Picture 3" descr="icon-timeline_c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5967" y="1170432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481328"/>
            <a:ext cx="795527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sz="2800" b="1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看网课真正让人放弃的，往往不是难，而是不知道从哪一秒开始没跟上。</a:t>
            </a:r>
            <a:endParaRPr sz="2800" b="1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2779776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sz="18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笔记记了一堆、问题攒了一串，回头复习还是不知道先看哪——因为缺的是「时间点」，不是文字。</a:t>
            </a:r>
            <a:endParaRPr sz="18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>
            <p:custDataLst>
              <p:tags r:id="rId3"/>
            </p:custDataLst>
          </p:nvPr>
        </p:nvSpPr>
        <p:spPr>
          <a:xfrm>
            <a:off x="566928" y="3831336"/>
            <a:ext cx="164592" cy="45720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914400" y="3712464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10"/>
              </a:lnSpc>
            </a:pPr>
            <a:r>
              <a:rPr sz="16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不知道哪一秒开始跟不上，只能从头再看一遍</a:t>
            </a:r>
            <a:endParaRPr sz="16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>
            <p:custDataLst>
              <p:tags r:id="rId5"/>
            </p:custDataLst>
          </p:nvPr>
        </p:nvSpPr>
        <p:spPr>
          <a:xfrm>
            <a:off x="566928" y="4471416"/>
            <a:ext cx="164592" cy="45720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914400" y="4352544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10"/>
              </a:lnSpc>
            </a:pPr>
            <a:r>
              <a:rPr sz="16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笔记记了、问题也攒了，回头还是不知道先看哪</a:t>
            </a:r>
            <a:endParaRPr sz="16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>
            <p:custDataLst>
              <p:tags r:id="rId7"/>
            </p:custDataLst>
          </p:nvPr>
        </p:nvSpPr>
        <p:spPr>
          <a:xfrm>
            <a:off x="566928" y="5111496"/>
            <a:ext cx="164592" cy="45720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914400" y="4992624"/>
            <a:ext cx="8595360" cy="270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10"/>
              </a:lnSpc>
            </a:pPr>
            <a:r>
              <a:rPr sz="16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真正需要的不是更多笔记，而是</a:t>
            </a:r>
            <a:r>
              <a:rPr lang="zh-CN" sz="16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能点开的</a:t>
            </a:r>
            <a:r>
              <a:rPr lang="zh-CN" sz="16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时间点</a:t>
            </a:r>
            <a:endParaRPr lang="zh-CN" sz="16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66928" y="6236208"/>
            <a:ext cx="11057839" cy="9144"/>
          </a:xfrm>
          <a:prstGeom prst="rect">
            <a:avLst/>
          </a:prstGeom>
          <a:solidFill>
            <a:srgbClr val="DFCD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38251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1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sz="11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450"/>
              </a:lnSpc>
            </a:pPr>
            <a:r>
              <a:rPr sz="11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/ 10</a:t>
            </a:r>
            <a:endParaRPr sz="11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AD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5836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100" b="1">
                <a:solidFill>
                  <a:srgbClr val="8F340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sz="1100" b="1">
              <a:solidFill>
                <a:srgbClr val="8F340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sz="2800" b="1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四件事，一件都不能少</a:t>
            </a:r>
            <a:endParaRPr sz="2800" b="1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609343"/>
            <a:ext cx="566928" cy="45720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993392"/>
            <a:ext cx="5400903" cy="1687068"/>
          </a:xfrm>
          <a:prstGeom prst="roundRect">
            <a:avLst>
              <a:gd name="adj" fmla="val 8672"/>
            </a:avLst>
          </a:prstGeom>
          <a:solidFill>
            <a:srgbClr val="FCF4E4"/>
          </a:solidFill>
          <a:ln w="9525">
            <a:solidFill>
              <a:srgbClr val="DFCD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93392"/>
            <a:ext cx="45720" cy="1687068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8" name="Picture 7" descr="icon-note_c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176272"/>
            <a:ext cx="768096" cy="7680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6384" y="299923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80"/>
              </a:lnSpc>
            </a:pPr>
            <a:r>
              <a:rPr sz="1200" b="1">
                <a:solidFill>
                  <a:srgbClr val="8F340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200" b="1">
              <a:solidFill>
                <a:srgbClr val="8F340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37360" y="2194560"/>
            <a:ext cx="395615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000" b="1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记事与攒问题</a:t>
            </a:r>
            <a:endParaRPr sz="2000" b="1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37360" y="2670048"/>
            <a:ext cx="3956151" cy="9006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110"/>
              </a:lnSpc>
            </a:pPr>
            <a:r>
              <a:rPr sz="16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按一下就把当前秒数记下来；想不通的先进队列，不打断听课。</a:t>
            </a:r>
            <a:endParaRPr sz="16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23863" y="1993392"/>
            <a:ext cx="5400903" cy="1687068"/>
          </a:xfrm>
          <a:prstGeom prst="roundRect">
            <a:avLst>
              <a:gd name="adj" fmla="val 8672"/>
            </a:avLst>
          </a:prstGeom>
          <a:solidFill>
            <a:srgbClr val="FCF4E4"/>
          </a:solidFill>
          <a:ln w="9525">
            <a:solidFill>
              <a:srgbClr val="DFCD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3863" y="1993392"/>
            <a:ext cx="45720" cy="1687068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4" name="Picture 13" descr="icon-timeline_c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319" y="2176272"/>
            <a:ext cx="768096" cy="7680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43319" y="299923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80"/>
              </a:lnSpc>
            </a:pPr>
            <a:r>
              <a:rPr sz="1200" b="1">
                <a:solidFill>
                  <a:srgbClr val="8F340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00" b="1">
              <a:solidFill>
                <a:srgbClr val="8F340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94295" y="2194560"/>
            <a:ext cx="395615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000" b="1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回看点定位</a:t>
            </a:r>
            <a:endParaRPr sz="2000" b="1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94295" y="2670048"/>
            <a:ext cx="3956151" cy="9006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110"/>
              </a:lnSpc>
            </a:pPr>
            <a:r>
              <a:rPr sz="16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三路信号融合，把「没跟上」定位到秒，并写清为什么标这里。</a:t>
            </a:r>
            <a:endParaRPr sz="16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66928" y="3936491"/>
            <a:ext cx="5400903" cy="1687068"/>
          </a:xfrm>
          <a:prstGeom prst="roundRect">
            <a:avLst>
              <a:gd name="adj" fmla="val 8672"/>
            </a:avLst>
          </a:prstGeom>
          <a:solidFill>
            <a:srgbClr val="FCF4E4"/>
          </a:solidFill>
          <a:ln w="9525">
            <a:solidFill>
              <a:srgbClr val="DFCD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3936491"/>
            <a:ext cx="45720" cy="1687068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20" name="Picture 19" descr="icon-retell_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4119372"/>
            <a:ext cx="768096" cy="76809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86384" y="4942331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80"/>
              </a:lnSpc>
            </a:pPr>
            <a:r>
              <a:rPr sz="1200" b="1">
                <a:solidFill>
                  <a:srgbClr val="8F340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00" b="1">
              <a:solidFill>
                <a:srgbClr val="8F340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737360" y="4137659"/>
            <a:ext cx="395615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000" b="1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换讲法重讲</a:t>
            </a:r>
            <a:endParaRPr sz="2000" b="1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737360" y="4613148"/>
            <a:ext cx="3956151" cy="9006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110"/>
              </a:lnSpc>
            </a:pPr>
            <a:r>
              <a:rPr sz="16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五种降维策略：换类比、补前置、数值化、反向验证、分层复述。</a:t>
            </a:r>
            <a:endParaRPr sz="16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23863" y="3936491"/>
            <a:ext cx="5400903" cy="1687068"/>
          </a:xfrm>
          <a:prstGeom prst="roundRect">
            <a:avLst>
              <a:gd name="adj" fmla="val 8672"/>
            </a:avLst>
          </a:prstGeom>
          <a:solidFill>
            <a:srgbClr val="FCF4E4"/>
          </a:solidFill>
          <a:ln w="9525">
            <a:solidFill>
              <a:srgbClr val="DFCD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23863" y="3936491"/>
            <a:ext cx="45720" cy="1687068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26" name="Picture 25" descr="icon-target_c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3319" y="4119372"/>
            <a:ext cx="768096" cy="76809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443319" y="4942331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80"/>
              </a:lnSpc>
            </a:pPr>
            <a:r>
              <a:rPr sz="1200" b="1">
                <a:solidFill>
                  <a:srgbClr val="8F340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00" b="1">
              <a:solidFill>
                <a:srgbClr val="8F340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394295" y="4137659"/>
            <a:ext cx="395615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000" b="1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出题与掌握度</a:t>
            </a:r>
            <a:endParaRPr sz="2000" b="1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394295" y="4613148"/>
            <a:ext cx="3956151" cy="9006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110"/>
              </a:lnSpc>
            </a:pPr>
            <a:r>
              <a:rPr sz="16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每个回看点出 3 道 4 选 1，题干必须能在原文查到。</a:t>
            </a:r>
            <a:endParaRPr sz="16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66928" y="5769864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sz="14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四件事共用同一条时间轴：你看的每一秒、记的每一条、答的每一题，都落在同一个坐标系里。</a:t>
            </a:r>
            <a:endParaRPr sz="14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66928" y="6236208"/>
            <a:ext cx="11057839" cy="9144"/>
          </a:xfrm>
          <a:prstGeom prst="rect">
            <a:avLst/>
          </a:prstGeom>
          <a:solidFill>
            <a:srgbClr val="DFCD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638251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1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sz="11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450"/>
              </a:lnSpc>
            </a:pPr>
            <a:r>
              <a:rPr sz="11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/ 10</a:t>
            </a:r>
            <a:endParaRPr sz="11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4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73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9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grpId="0" nodeType="withEffect">
                                  <p:stCondLst>
                                    <p:cond delay="31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33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grpId="0" nodeType="withEffect">
                                  <p:stCondLst>
                                    <p:cond delay="351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AD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5836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100" b="1">
                <a:solidFill>
                  <a:srgbClr val="8F340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怎么跑</a:t>
            </a:r>
            <a:endParaRPr sz="1100" b="1">
              <a:solidFill>
                <a:srgbClr val="8F340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sz="2800" b="1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一节 45 分钟的课，跑完这四步</a:t>
            </a:r>
            <a:endParaRPr sz="2800" b="1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609343"/>
            <a:ext cx="566928" cy="45720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2286000"/>
            <a:ext cx="2476423" cy="2784348"/>
          </a:xfrm>
          <a:prstGeom prst="roundRect">
            <a:avLst>
              <a:gd name="adj" fmla="val 5169"/>
            </a:avLst>
          </a:prstGeom>
          <a:solidFill>
            <a:srgbClr val="FCF4E4"/>
          </a:solidFill>
          <a:ln w="9525">
            <a:solidFill>
              <a:srgbClr val="DFCD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286000"/>
            <a:ext cx="2476423" cy="64008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8" name="Picture 7" descr="icon-mic_c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523" y="2487168"/>
            <a:ext cx="713232" cy="713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" y="3273552"/>
            <a:ext cx="201922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sz="1400" b="1">
                <a:solidFill>
                  <a:srgbClr val="8F340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00" b="1">
              <a:solidFill>
                <a:srgbClr val="8F340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2" y="3584448"/>
            <a:ext cx="2019223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sz="1800" b="1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 / 导</a:t>
            </a:r>
            <a:endParaRPr sz="1800" b="1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4672" y="4059936"/>
            <a:ext cx="2019223" cy="809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sz="14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系统回环录音，或直接贴 B 站链接取字幕。不装插件、不录屏。</a:t>
            </a:r>
            <a:endParaRPr sz="14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70783" y="3659886"/>
            <a:ext cx="329184" cy="45720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08527" y="3559302"/>
            <a:ext cx="109728" cy="246888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27399" y="2286000"/>
            <a:ext cx="2476423" cy="2784348"/>
          </a:xfrm>
          <a:prstGeom prst="roundRect">
            <a:avLst>
              <a:gd name="adj" fmla="val 5169"/>
            </a:avLst>
          </a:prstGeom>
          <a:solidFill>
            <a:srgbClr val="FCF4E4"/>
          </a:solidFill>
          <a:ln w="9525">
            <a:solidFill>
              <a:srgbClr val="DFCD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7399" y="2286000"/>
            <a:ext cx="2476423" cy="64008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6" name="Picture 15" descr="icon-transcribe_c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8995" y="2487168"/>
            <a:ext cx="713232" cy="7132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65143" y="3273552"/>
            <a:ext cx="201922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sz="1400" b="1">
                <a:solidFill>
                  <a:srgbClr val="8F340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00" b="1">
              <a:solidFill>
                <a:srgbClr val="8F340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65143" y="3584448"/>
            <a:ext cx="2019223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sz="1800" b="1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转写</a:t>
            </a:r>
            <a:endParaRPr sz="1800" b="1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65143" y="4059936"/>
            <a:ext cx="2019223" cy="809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sz="14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字幕优先，其次音轨转写。没有后端就明确报错，不编造文本。</a:t>
            </a:r>
            <a:endParaRPr sz="14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931255" y="3659886"/>
            <a:ext cx="329184" cy="45720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8999" y="3559302"/>
            <a:ext cx="109728" cy="246888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87871" y="2286000"/>
            <a:ext cx="2476423" cy="2784348"/>
          </a:xfrm>
          <a:prstGeom prst="roundRect">
            <a:avLst>
              <a:gd name="adj" fmla="val 5169"/>
            </a:avLst>
          </a:prstGeom>
          <a:solidFill>
            <a:srgbClr val="FCF4E4"/>
          </a:solidFill>
          <a:ln w="9525">
            <a:solidFill>
              <a:srgbClr val="DFCD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87871" y="2286000"/>
            <a:ext cx="2476423" cy="64008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24" name="Picture 23" descr="icon-timeline_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9467" y="2487168"/>
            <a:ext cx="713232" cy="7132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25615" y="3273552"/>
            <a:ext cx="201922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sz="1400" b="1">
                <a:solidFill>
                  <a:srgbClr val="8F340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400" b="1">
              <a:solidFill>
                <a:srgbClr val="8F340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25615" y="3584448"/>
            <a:ext cx="2019223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sz="1800" b="1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判定</a:t>
            </a:r>
            <a:endParaRPr sz="1800" b="1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25615" y="4059936"/>
            <a:ext cx="2019223" cy="809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sz="14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五特征认知负荷 + 行为信号 + 手动标记融合成四象限与等级。</a:t>
            </a:r>
            <a:endParaRPr sz="14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791727" y="3659886"/>
            <a:ext cx="329184" cy="45720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29471" y="3559302"/>
            <a:ext cx="109728" cy="246888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48343" y="2286000"/>
            <a:ext cx="2476423" cy="2784348"/>
          </a:xfrm>
          <a:prstGeom prst="roundRect">
            <a:avLst>
              <a:gd name="adj" fmla="val 5169"/>
            </a:avLst>
          </a:prstGeom>
          <a:solidFill>
            <a:srgbClr val="FCF4E4"/>
          </a:solidFill>
          <a:ln w="9525">
            <a:solidFill>
              <a:srgbClr val="DFCD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8343" y="2286000"/>
            <a:ext cx="2476423" cy="64008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32" name="Picture 31" descr="icon-deliver_c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9939" y="2487168"/>
            <a:ext cx="713232" cy="71323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386087" y="3273552"/>
            <a:ext cx="201922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sz="1400" b="1">
                <a:solidFill>
                  <a:srgbClr val="8F340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400" b="1">
              <a:solidFill>
                <a:srgbClr val="8F340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386087" y="3584448"/>
            <a:ext cx="2019223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sz="1800" b="1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</a:t>
            </a:r>
            <a:endParaRPr sz="1800" b="1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386087" y="4059936"/>
            <a:ext cx="2019223" cy="809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sz="14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时间轴、重讲、笔记、小测、问题队列一起产出，落到同一节课上。</a:t>
            </a:r>
            <a:endParaRPr sz="14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66928" y="5253228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sz="14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全程端侧：音频压成 16 kHz FLAC，模型可本地可云端，配置一份就跑。</a:t>
            </a:r>
            <a:endParaRPr sz="14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66928" y="6236208"/>
            <a:ext cx="11057839" cy="9144"/>
          </a:xfrm>
          <a:prstGeom prst="rect">
            <a:avLst/>
          </a:prstGeom>
          <a:solidFill>
            <a:srgbClr val="DFCD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638251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1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</a:t>
            </a:r>
            <a:endParaRPr sz="11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450"/>
              </a:lnSpc>
            </a:pPr>
            <a:r>
              <a:rPr sz="11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/ 10</a:t>
            </a:r>
            <a:endParaRPr sz="11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grpId="0" nodeType="withEffect">
                                  <p:stCondLst>
                                    <p:cond delay="24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273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29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1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grpId="0" nodeType="withEffect">
                                  <p:stCondLst>
                                    <p:cond delay="33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grpId="0" nodeType="withEffect">
                                  <p:stCondLst>
                                    <p:cond delay="351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377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403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41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1" fill="hold" grpId="0" nodeType="withEffect">
                                  <p:stCondLst>
                                    <p:cond delay="429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AD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5836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100" b="1">
                <a:solidFill>
                  <a:srgbClr val="8F340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 · 时间轴</a:t>
            </a:r>
            <a:endParaRPr sz="1100" b="1">
              <a:solidFill>
                <a:srgbClr val="8F340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sz="2800" b="1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一屏看清：曲线、回看点、为什么</a:t>
            </a:r>
            <a:endParaRPr sz="2800" b="1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609343"/>
            <a:ext cx="566928" cy="45720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039112"/>
            <a:ext cx="4206240" cy="3767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110"/>
              </a:lnSpc>
              <a:spcAft>
                <a:spcPts val="1000"/>
              </a:spcAft>
            </a:pPr>
            <a:r>
              <a:rPr sz="1600" b="0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青色是认知负荷曲线，橙虚线是行为信号</a:t>
            </a:r>
            <a:endParaRPr sz="1600" b="0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ts val="2110"/>
              </a:lnSpc>
              <a:spcAft>
                <a:spcPts val="1000"/>
              </a:spcAft>
            </a:pPr>
            <a:r>
              <a:rPr sz="1600" b="0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红区强卡点、橙区中等，阈值写在设置里</a:t>
            </a:r>
            <a:endParaRPr sz="1600" b="0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ts val="2110"/>
              </a:lnSpc>
              <a:spcAft>
                <a:spcPts val="1000"/>
              </a:spcAft>
            </a:pPr>
            <a:r>
              <a:rPr sz="1600" b="0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表里写明「为什么标记这里」的原话证据</a:t>
            </a:r>
            <a:endParaRPr sz="1600" b="0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ts val="2110"/>
              </a:lnSpc>
              <a:spcAft>
                <a:spcPts val="1000"/>
              </a:spcAft>
            </a:pPr>
            <a:r>
              <a:rPr sz="1600" b="0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双击一行进重讲，可看证据覆盖几成</a:t>
            </a:r>
            <a:endParaRPr sz="1600" b="0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 descr="crop-timeline.png"/>
          <p:cNvPicPr>
            <a:picLocks noChangeAspect="1"/>
          </p:cNvPicPr>
          <p:nvPr/>
        </p:nvPicPr>
        <p:blipFill>
          <a:blip r:embed="rId2"/>
          <a:srcRect t="3789" b="3789"/>
          <a:stretch>
            <a:fillRect/>
          </a:stretch>
        </p:blipFill>
        <p:spPr>
          <a:xfrm>
            <a:off x="5995035" y="1093470"/>
            <a:ext cx="6215380" cy="47129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95567" y="5916168"/>
            <a:ext cx="5029200" cy="236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50"/>
              </a:lnSpc>
            </a:pPr>
            <a:r>
              <a:rPr sz="14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时间轴实机</a:t>
            </a:r>
            <a:endParaRPr sz="14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4919472"/>
            <a:ext cx="4206240" cy="1207008"/>
          </a:xfrm>
          <a:prstGeom prst="roundRect">
            <a:avLst>
              <a:gd name="adj" fmla="val 9090"/>
            </a:avLst>
          </a:prstGeom>
          <a:solidFill>
            <a:srgbClr val="FCF4E4"/>
          </a:solidFill>
          <a:ln w="9525">
            <a:solidFill>
              <a:srgbClr val="DFCD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919472"/>
            <a:ext cx="45720" cy="1207008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65776"/>
            <a:ext cx="37490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sz="1400" b="0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判定不是打分：每条卡点都要回答「为什么标这里」，答不出就不标。</a:t>
            </a:r>
            <a:endParaRPr sz="1400" b="0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5724144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sz="1400" b="0">
                <a:solidFill>
                  <a:srgbClr val="8F340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 1/2 卡点有画面证据（共 1 帧）</a:t>
            </a:r>
            <a:endParaRPr sz="1400" b="0">
              <a:solidFill>
                <a:srgbClr val="8F340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66928" y="6236208"/>
            <a:ext cx="11057839" cy="9144"/>
          </a:xfrm>
          <a:prstGeom prst="rect">
            <a:avLst/>
          </a:prstGeom>
          <a:solidFill>
            <a:srgbClr val="DFCD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38251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1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</a:t>
            </a:r>
            <a:endParaRPr sz="11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450"/>
              </a:lnSpc>
            </a:pPr>
            <a:r>
              <a:rPr sz="11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/ 10</a:t>
            </a:r>
            <a:endParaRPr sz="11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AD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5836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100" b="1">
                <a:solidFill>
                  <a:srgbClr val="8F340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 · 笔记与问题</a:t>
            </a:r>
            <a:endParaRPr sz="1100" b="1">
              <a:solidFill>
                <a:srgbClr val="8F340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sz="2800" b="1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听课不打断，问题先进队列</a:t>
            </a:r>
            <a:endParaRPr sz="2800" b="1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609343"/>
            <a:ext cx="566928" cy="45720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039112"/>
            <a:ext cx="4206240" cy="22783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110"/>
              </a:lnSpc>
              <a:spcAft>
                <a:spcPts val="1000"/>
              </a:spcAft>
            </a:pPr>
            <a:r>
              <a:rPr sz="1600" b="0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按 Enter 把当前</a:t>
            </a:r>
            <a:r>
              <a:rPr lang="zh-CN" sz="1600" b="0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</a:t>
            </a:r>
            <a:r>
              <a:rPr sz="1600" b="0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攒进队列，带时间戳和那句原话</a:t>
            </a:r>
            <a:endParaRPr sz="1600" b="0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ts val="2110"/>
              </a:lnSpc>
              <a:spcAft>
                <a:spcPts val="1000"/>
              </a:spcAft>
            </a:pPr>
            <a:r>
              <a:rPr sz="1600" b="0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想不通的先记，不打断听课，也不用手动抄时间</a:t>
            </a:r>
            <a:endParaRPr sz="1600" b="0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ts val="2110"/>
              </a:lnSpc>
              <a:spcAft>
                <a:spcPts val="1000"/>
              </a:spcAft>
            </a:pPr>
            <a:r>
              <a:rPr sz="1600" b="0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下课点「全部回答」，用本节上下文逐条答</a:t>
            </a:r>
            <a:endParaRPr sz="1600" b="0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ts val="2110"/>
              </a:lnSpc>
              <a:spcAft>
                <a:spcPts val="1000"/>
              </a:spcAft>
            </a:pPr>
            <a:r>
              <a:rPr sz="1600" b="0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导出笔记：回看点、掌握度、问答装订成 markdown</a:t>
            </a:r>
            <a:endParaRPr sz="1600" b="0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 descr="crop-queue.png"/>
          <p:cNvPicPr>
            <a:picLocks noChangeAspect="1"/>
          </p:cNvPicPr>
          <p:nvPr/>
        </p:nvPicPr>
        <p:blipFill>
          <a:blip r:embed="rId2"/>
          <a:srcRect t="60" b="60"/>
          <a:stretch>
            <a:fillRect/>
          </a:stretch>
        </p:blipFill>
        <p:spPr>
          <a:xfrm>
            <a:off x="5544820" y="969010"/>
            <a:ext cx="10434320" cy="43649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54952" y="5495289"/>
            <a:ext cx="4983480" cy="236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50"/>
              </a:lnSpc>
            </a:pPr>
            <a:r>
              <a:rPr sz="14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待答队列实机</a:t>
            </a:r>
            <a:endParaRPr sz="14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4927600"/>
            <a:ext cx="4206240" cy="1207008"/>
          </a:xfrm>
          <a:prstGeom prst="roundRect">
            <a:avLst>
              <a:gd name="adj" fmla="val 9090"/>
            </a:avLst>
          </a:prstGeom>
          <a:solidFill>
            <a:srgbClr val="FCF4E4"/>
          </a:solidFill>
          <a:ln w="9525">
            <a:solidFill>
              <a:srgbClr val="DFCD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927600"/>
            <a:ext cx="45720" cy="1207008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73904"/>
            <a:ext cx="37490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sz="1400" b="0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队列留的是「原话 + 秒数」，不是你的概括——回头看才对得上。</a:t>
            </a:r>
            <a:endParaRPr sz="1400" b="0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5732271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sz="1400" b="0">
                <a:solidFill>
                  <a:srgbClr val="8F340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截图里 01:58 / 04:46 两条都已答完</a:t>
            </a:r>
            <a:endParaRPr sz="1400" b="0">
              <a:solidFill>
                <a:srgbClr val="8F340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66928" y="6236208"/>
            <a:ext cx="11057839" cy="9144"/>
          </a:xfrm>
          <a:prstGeom prst="rect">
            <a:avLst/>
          </a:prstGeom>
          <a:solidFill>
            <a:srgbClr val="DFCD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38251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1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</a:t>
            </a:r>
            <a:endParaRPr sz="11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450"/>
              </a:lnSpc>
            </a:pPr>
            <a:r>
              <a:rPr sz="11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/ 10</a:t>
            </a:r>
            <a:endParaRPr sz="11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AD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5836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100" b="1">
                <a:solidFill>
                  <a:srgbClr val="8F340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 · 小测</a:t>
            </a:r>
            <a:endParaRPr sz="1100" b="1">
              <a:solidFill>
                <a:srgbClr val="8F340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sz="2800" b="1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出题必须有据，答对才改掌握度</a:t>
            </a:r>
            <a:endParaRPr sz="2800" b="1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609343"/>
            <a:ext cx="566928" cy="45720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039112"/>
            <a:ext cx="4206240" cy="3767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110"/>
              </a:lnSpc>
              <a:spcAft>
                <a:spcPts val="1000"/>
              </a:spcAft>
            </a:pPr>
            <a:r>
              <a:rPr sz="1600" b="0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每个回看点出 3 道 4 选 1，题干只用这一段原文</a:t>
            </a:r>
            <a:endParaRPr sz="1600" b="0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ts val="2110"/>
              </a:lnSpc>
              <a:spcAft>
                <a:spcPts val="1000"/>
              </a:spcAft>
            </a:pPr>
            <a:r>
              <a:rPr sz="1600" b="0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出处查不到当场作废：标黄、不计分、不进掌握度</a:t>
            </a:r>
            <a:endParaRPr sz="1600" b="0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ts val="2110"/>
              </a:lnSpc>
              <a:spcAft>
                <a:spcPts val="1000"/>
              </a:spcAft>
            </a:pPr>
            <a:r>
              <a:rPr sz="1600" b="0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答对才改掌握度，点「讲明白了」不算证据</a:t>
            </a:r>
            <a:endParaRPr sz="1600" b="0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ts val="2110"/>
              </a:lnSpc>
              <a:spcAft>
                <a:spcPts val="1000"/>
              </a:spcAft>
            </a:pPr>
            <a:r>
              <a:rPr sz="1600" b="0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答错不罚分，只累计误解，等下次重讲</a:t>
            </a:r>
            <a:endParaRPr sz="1600" b="0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 descr="crop-quiz.png"/>
          <p:cNvPicPr>
            <a:picLocks noChangeAspect="1"/>
          </p:cNvPicPr>
          <p:nvPr/>
        </p:nvPicPr>
        <p:blipFill>
          <a:blip r:embed="rId2"/>
          <a:srcRect l="32" r="32"/>
          <a:stretch>
            <a:fillRect/>
          </a:stretch>
        </p:blipFill>
        <p:spPr>
          <a:xfrm>
            <a:off x="5727065" y="2057400"/>
            <a:ext cx="9368155" cy="31565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26887" y="5214239"/>
            <a:ext cx="5897880" cy="236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50"/>
              </a:lnSpc>
            </a:pPr>
            <a:r>
              <a:rPr sz="14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小测实机</a:t>
            </a:r>
            <a:endParaRPr sz="14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4919472"/>
            <a:ext cx="4206240" cy="1207008"/>
          </a:xfrm>
          <a:prstGeom prst="roundRect">
            <a:avLst>
              <a:gd name="adj" fmla="val 9090"/>
            </a:avLst>
          </a:prstGeom>
          <a:solidFill>
            <a:srgbClr val="FCF4E4"/>
          </a:solidFill>
          <a:ln w="9525">
            <a:solidFill>
              <a:srgbClr val="DFCD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919472"/>
            <a:ext cx="45720" cy="1207008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65776"/>
            <a:ext cx="37490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sz="1400" b="0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这组题是真模型现场出的：选项由模型写，出处逐个回查原文。</a:t>
            </a:r>
            <a:endParaRPr sz="1400" b="0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5724144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sz="1400" b="0">
                <a:solidFill>
                  <a:srgbClr val="8F340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题干里的「按原文」不是修辞，是校验规则</a:t>
            </a:r>
            <a:endParaRPr sz="1400" b="0">
              <a:solidFill>
                <a:srgbClr val="8F340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66928" y="6236208"/>
            <a:ext cx="11057839" cy="9144"/>
          </a:xfrm>
          <a:prstGeom prst="rect">
            <a:avLst/>
          </a:prstGeom>
          <a:solidFill>
            <a:srgbClr val="DFCD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38251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1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 · 小测</a:t>
            </a:r>
            <a:endParaRPr sz="11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450"/>
              </a:lnSpc>
            </a:pPr>
            <a:r>
              <a:rPr sz="11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/ 10</a:t>
            </a:r>
            <a:endParaRPr sz="11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AD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5836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100" b="1">
                <a:solidFill>
                  <a:srgbClr val="8F340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取舍</a:t>
            </a:r>
            <a:endParaRPr sz="1100" b="1">
              <a:solidFill>
                <a:srgbClr val="8F340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sz="2800" b="1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三条采集路径，代价从几 KB 到几 MB</a:t>
            </a:r>
            <a:endParaRPr sz="2800" b="1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609343"/>
            <a:ext cx="566928" cy="45720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947672"/>
          <a:ext cx="9875518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5549"/>
                <a:gridCol w="2064881"/>
                <a:gridCol w="2962656"/>
                <a:gridCol w="1705771"/>
                <a:gridCol w="1346661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A1F16"/>
                          </a:solidFill>
                          <a:latin typeface="微软雅黑" panose="020B0503020204020204" charset="-122"/>
                        </a:rPr>
                        <a:t>路径</a:t>
                      </a:r>
                      <a:endParaRPr sz="1300" b="1">
                        <a:solidFill>
                          <a:srgbClr val="2A1F16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anchor="ctr">
                    <a:solidFill>
                      <a:srgbClr val="F7DF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A1F16"/>
                          </a:solidFill>
                          <a:latin typeface="微软雅黑" panose="020B0503020204020204" charset="-122"/>
                        </a:rPr>
                        <a:t>拿到什么</a:t>
                      </a:r>
                      <a:endParaRPr sz="1300" b="1">
                        <a:solidFill>
                          <a:srgbClr val="2A1F16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anchor="ctr">
                    <a:solidFill>
                      <a:srgbClr val="F7DF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A1F16"/>
                          </a:solidFill>
                          <a:latin typeface="微软雅黑" panose="020B0503020204020204" charset="-122"/>
                        </a:rPr>
                        <a:t>用来干什么</a:t>
                      </a:r>
                      <a:endParaRPr sz="1300" b="1">
                        <a:solidFill>
                          <a:srgbClr val="2A1F16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anchor="ctr">
                    <a:solidFill>
                      <a:srgbClr val="F7DF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A1F16"/>
                          </a:solidFill>
                          <a:latin typeface="微软雅黑" panose="020B0503020204020204" charset="-122"/>
                        </a:rPr>
                        <a:t>代价</a:t>
                      </a:r>
                      <a:endParaRPr sz="1300" b="1">
                        <a:solidFill>
                          <a:srgbClr val="2A1F16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anchor="ctr">
                    <a:solidFill>
                      <a:srgbClr val="F7DF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A1F16"/>
                          </a:solidFill>
                          <a:latin typeface="微软雅黑" panose="020B0503020204020204" charset="-122"/>
                        </a:rPr>
                        <a:t>要不要模型</a:t>
                      </a:r>
                      <a:endParaRPr sz="1300" b="1">
                        <a:solidFill>
                          <a:srgbClr val="2A1F16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anchor="ctr">
                    <a:solidFill>
                      <a:srgbClr val="F7DFC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1F16"/>
                          </a:solidFill>
                          <a:latin typeface="微软雅黑" panose="020B0503020204020204" charset="-122"/>
                        </a:rPr>
                        <a:t>只给字幕 SRT / VTT</a:t>
                      </a:r>
                      <a:endParaRPr sz="1200" b="0">
                        <a:solidFill>
                          <a:srgbClr val="2A1F16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anchor="ctr">
                    <a:solidFill>
                      <a:srgbClr val="F6E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1F16"/>
                          </a:solidFill>
                          <a:latin typeface="微软雅黑" panose="020B0503020204020204" charset="-122"/>
                        </a:rPr>
                        <a:t>逐句真实时间戳</a:t>
                      </a:r>
                      <a:endParaRPr sz="1200" b="0">
                        <a:solidFill>
                          <a:srgbClr val="2A1F16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anchor="ctr">
                    <a:solidFill>
                      <a:srgbClr val="F6E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1F16"/>
                          </a:solidFill>
                          <a:latin typeface="微软雅黑" panose="020B0503020204020204" charset="-122"/>
                        </a:rPr>
                        <a:t>直接定位回看点的秒，不用再听一遍</a:t>
                      </a:r>
                      <a:endParaRPr sz="1200" b="0">
                        <a:solidFill>
                          <a:srgbClr val="2A1F16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anchor="ctr">
                    <a:solidFill>
                      <a:srgbClr val="F6E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1F16"/>
                          </a:solidFill>
                          <a:latin typeface="微软雅黑" panose="020B0503020204020204" charset="-122"/>
                        </a:rPr>
                        <a:t>几 KB，零转写</a:t>
                      </a:r>
                      <a:endParaRPr sz="1200" b="0">
                        <a:solidFill>
                          <a:srgbClr val="2A1F16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anchor="ctr">
                    <a:solidFill>
                      <a:srgbClr val="F6E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1F16"/>
                          </a:solidFill>
                          <a:latin typeface="微软雅黑" panose="020B0503020204020204" charset="-122"/>
                        </a:rPr>
                        <a:t>不要</a:t>
                      </a:r>
                      <a:endParaRPr sz="1200" b="0">
                        <a:solidFill>
                          <a:srgbClr val="2A1F16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anchor="ctr">
                    <a:solidFill>
                      <a:srgbClr val="F6EAD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1F16"/>
                          </a:solidFill>
                          <a:latin typeface="微软雅黑" panose="020B0503020204020204" charset="-122"/>
                        </a:rPr>
                        <a:t>链接导入（无字幕）</a:t>
                      </a:r>
                      <a:endParaRPr sz="1200" b="0">
                        <a:solidFill>
                          <a:srgbClr val="2A1F16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anchor="ctr">
                    <a:solidFill>
                      <a:srgbClr val="FCF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1F16"/>
                          </a:solidFill>
                          <a:latin typeface="微软雅黑" panose="020B0503020204020204" charset="-122"/>
                        </a:rPr>
                        <a:t>音轨转成的逐句文本</a:t>
                      </a:r>
                      <a:endParaRPr sz="1200" b="0">
                        <a:solidFill>
                          <a:srgbClr val="2A1F16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anchor="ctr">
                    <a:solidFill>
                      <a:srgbClr val="FCF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1F16"/>
                          </a:solidFill>
                          <a:latin typeface="微软雅黑" panose="020B0503020204020204" charset="-122"/>
                        </a:rPr>
                        <a:t>没有字幕也能逐句引用原文去出题</a:t>
                      </a:r>
                      <a:endParaRPr sz="1200" b="0">
                        <a:solidFill>
                          <a:srgbClr val="2A1F16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anchor="ctr">
                    <a:solidFill>
                      <a:srgbClr val="FCF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1F16"/>
                          </a:solidFill>
                          <a:latin typeface="微软雅黑" panose="020B0503020204020204" charset="-122"/>
                        </a:rPr>
                        <a:t>157 秒约 2.6 MB</a:t>
                      </a:r>
                      <a:endParaRPr sz="1200" b="0">
                        <a:solidFill>
                          <a:srgbClr val="2A1F16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anchor="ctr">
                    <a:solidFill>
                      <a:srgbClr val="FCF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1F16"/>
                          </a:solidFill>
                          <a:latin typeface="微软雅黑" panose="020B0503020204020204" charset="-122"/>
                        </a:rPr>
                        <a:t>要转写后端</a:t>
                      </a:r>
                      <a:endParaRPr sz="1200" b="0">
                        <a:solidFill>
                          <a:srgbClr val="2A1F16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anchor="ctr">
                    <a:solidFill>
                      <a:srgbClr val="FCF4E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1F16"/>
                          </a:solidFill>
                          <a:latin typeface="微软雅黑" panose="020B0503020204020204" charset="-122"/>
                        </a:rPr>
                        <a:t>补看回看点画面</a:t>
                      </a:r>
                      <a:endParaRPr sz="1200" b="0">
                        <a:solidFill>
                          <a:srgbClr val="2A1F16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anchor="ctr">
                    <a:solidFill>
                      <a:srgbClr val="F6E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1F16"/>
                          </a:solidFill>
                          <a:latin typeface="微软雅黑" panose="020B0503020204020204" charset="-122"/>
                        </a:rPr>
                        <a:t>回看点那一刻的单帧</a:t>
                      </a:r>
                      <a:endParaRPr sz="1200" b="0">
                        <a:solidFill>
                          <a:srgbClr val="2A1F16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anchor="ctr">
                    <a:solidFill>
                      <a:srgbClr val="F6E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1F16"/>
                          </a:solidFill>
                          <a:latin typeface="微软雅黑" panose="020B0503020204020204" charset="-122"/>
                        </a:rPr>
                        <a:t>让卡点有画面证据，判分不靠猜</a:t>
                      </a:r>
                      <a:endParaRPr sz="1200" b="0">
                        <a:solidFill>
                          <a:srgbClr val="2A1F16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anchor="ctr">
                    <a:solidFill>
                      <a:srgbClr val="F6E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1F16"/>
                          </a:solidFill>
                          <a:latin typeface="微软雅黑" panose="020B0503020204020204" charset="-122"/>
                        </a:rPr>
                        <a:t>整段 317 KB</a:t>
                      </a:r>
                      <a:endParaRPr sz="1200" b="0">
                        <a:solidFill>
                          <a:srgbClr val="2A1F16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anchor="ctr">
                    <a:solidFill>
                      <a:srgbClr val="F6E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1F16"/>
                          </a:solidFill>
                          <a:latin typeface="微软雅黑" panose="020B0503020204020204" charset="-122"/>
                        </a:rPr>
                        <a:t>要视觉模型</a:t>
                      </a:r>
                      <a:endParaRPr sz="1200" b="0">
                        <a:solidFill>
                          <a:srgbClr val="2A1F16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anchor="ctr">
                    <a:solidFill>
                      <a:srgbClr val="F6EAD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4014215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sz="14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代价从低到高排：没有一条是隐形的，取舍摆在明面上。</a:t>
            </a:r>
            <a:endParaRPr sz="14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4507992"/>
            <a:ext cx="9875520" cy="9144"/>
          </a:xfrm>
          <a:prstGeom prst="rect">
            <a:avLst/>
          </a:prstGeom>
          <a:solidFill>
            <a:srgbClr val="DFCD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654296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sz="2800" b="1">
                <a:solidFill>
                  <a:srgbClr val="8F340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2.6MB</a:t>
            </a:r>
            <a:endParaRPr sz="2800" b="1">
              <a:solidFill>
                <a:srgbClr val="8F340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5221224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10"/>
              </a:lnSpc>
            </a:pPr>
            <a:r>
              <a:rPr sz="1600" b="0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157 秒音频的转轨</a:t>
            </a:r>
            <a:endParaRPr sz="1600" b="0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" y="5513831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sz="14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转成 16 kHz 单声道 WAV</a:t>
            </a:r>
            <a:endParaRPr sz="14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58768" y="4654296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sz="2800" b="1">
                <a:solidFill>
                  <a:srgbClr val="8F340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317KB</a:t>
            </a:r>
            <a:endParaRPr sz="2800" b="1">
              <a:solidFill>
                <a:srgbClr val="8F340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58768" y="5221224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10"/>
              </a:lnSpc>
            </a:pPr>
            <a:r>
              <a:rPr sz="1600" b="0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一集微积分字幕</a:t>
            </a:r>
            <a:endParaRPr sz="1600" b="0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858768" y="5513831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sz="14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 集，按需拉取，不做预下载</a:t>
            </a:r>
            <a:endParaRPr sz="14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50608" y="4654296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sz="2800" b="1">
                <a:solidFill>
                  <a:srgbClr val="8F340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个</a:t>
            </a:r>
            <a:endParaRPr sz="2800" b="1">
              <a:solidFill>
                <a:srgbClr val="8F340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50608" y="5221224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10"/>
              </a:lnSpc>
            </a:pPr>
            <a:r>
              <a:rPr sz="1600" b="0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重点回看点</a:t>
            </a:r>
            <a:endParaRPr sz="1600" b="0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50608" y="5513831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80"/>
              </a:lnSpc>
            </a:pPr>
            <a:r>
              <a:rPr sz="12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出自 6 段字幕，共 14 个切片窗口，零转写</a:t>
            </a:r>
            <a:endParaRPr sz="12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66928" y="6236208"/>
            <a:ext cx="11057839" cy="9144"/>
          </a:xfrm>
          <a:prstGeom prst="rect">
            <a:avLst/>
          </a:prstGeom>
          <a:solidFill>
            <a:srgbClr val="DFCD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38251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1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取舍</a:t>
            </a:r>
            <a:endParaRPr sz="11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450"/>
              </a:lnSpc>
            </a:pPr>
            <a:r>
              <a:rPr sz="11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/ 10</a:t>
            </a:r>
            <a:endParaRPr sz="11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AD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5836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100" b="1">
                <a:solidFill>
                  <a:srgbClr val="8F340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</a:t>
            </a:r>
            <a:endParaRPr sz="1100" b="1">
              <a:solidFill>
                <a:srgbClr val="8F340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sz="2800" b="1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它替你记事，但不替你思考</a:t>
            </a:r>
            <a:endParaRPr sz="2800" b="1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609343"/>
            <a:ext cx="566928" cy="45720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Rounded Rectangle 5"/>
          <p:cNvSpPr/>
          <p:nvPr>
            <p:custDataLst>
              <p:tags r:id="rId2"/>
            </p:custDataLst>
          </p:nvPr>
        </p:nvSpPr>
        <p:spPr>
          <a:xfrm>
            <a:off x="566928" y="1993392"/>
            <a:ext cx="5300319" cy="3950208"/>
          </a:xfrm>
          <a:prstGeom prst="roundRect">
            <a:avLst>
              <a:gd name="adj" fmla="val 4166"/>
            </a:avLst>
          </a:prstGeom>
          <a:solidFill>
            <a:srgbClr val="FC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877824" y="2304288"/>
            <a:ext cx="467852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000" b="1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它不做</a:t>
            </a:r>
            <a:endParaRPr sz="2000" b="1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877824" y="3226308"/>
            <a:ext cx="4678527" cy="2005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110"/>
              </a:lnSpc>
              <a:spcAft>
                <a:spcPts val="2400"/>
              </a:spcAft>
            </a:pPr>
            <a:r>
              <a:rPr sz="1600" b="0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不录屏、不截屏、不记键盘</a:t>
            </a:r>
            <a:endParaRPr sz="1600" b="0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ts val="2110"/>
              </a:lnSpc>
              <a:spcAft>
                <a:spcPts val="2400"/>
              </a:spcAft>
            </a:pPr>
            <a:r>
              <a:rPr sz="1600" b="0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不预置题库、不刷通用题</a:t>
            </a:r>
            <a:endParaRPr sz="1600" b="0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ts val="2110"/>
              </a:lnSpc>
              <a:spcAft>
                <a:spcPts val="2400"/>
              </a:spcAft>
            </a:pPr>
            <a:r>
              <a:rPr sz="1600" b="0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不内嵌播放器、不抢你的进度</a:t>
            </a:r>
            <a:endParaRPr sz="1600" b="0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ts val="2110"/>
              </a:lnSpc>
              <a:spcAft>
                <a:spcPts val="2400"/>
              </a:spcAft>
            </a:pPr>
            <a:endParaRPr sz="1600" b="0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5"/>
            </p:custDataLst>
          </p:nvPr>
        </p:nvSpPr>
        <p:spPr>
          <a:xfrm>
            <a:off x="6324447" y="1993392"/>
            <a:ext cx="5300319" cy="3950208"/>
          </a:xfrm>
          <a:prstGeom prst="roundRect">
            <a:avLst>
              <a:gd name="adj" fmla="val 4166"/>
            </a:avLst>
          </a:prstGeom>
          <a:solidFill>
            <a:srgbClr val="F7D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6635343" y="2304288"/>
            <a:ext cx="467852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000" b="1">
                <a:solidFill>
                  <a:srgbClr val="8F340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它做</a:t>
            </a:r>
            <a:endParaRPr sz="2000" b="1">
              <a:solidFill>
                <a:srgbClr val="8F340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7"/>
            </p:custDataLst>
          </p:nvPr>
        </p:nvSpPr>
        <p:spPr>
          <a:xfrm>
            <a:off x="6635343" y="3226308"/>
            <a:ext cx="4678527" cy="2005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110"/>
              </a:lnSpc>
              <a:spcAft>
                <a:spcPts val="2400"/>
              </a:spcAft>
            </a:pPr>
            <a:r>
              <a:rPr sz="1600" b="0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把「没跟上」定位到秒</a:t>
            </a:r>
            <a:endParaRPr sz="1600" b="0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ts val="2110"/>
              </a:lnSpc>
              <a:spcAft>
                <a:spcPts val="2400"/>
              </a:spcAft>
            </a:pPr>
            <a:r>
              <a:rPr sz="1600" b="0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带证据重讲，不编假答案</a:t>
            </a:r>
            <a:endParaRPr sz="1600" b="0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ts val="2110"/>
              </a:lnSpc>
              <a:spcAft>
                <a:spcPts val="2400"/>
              </a:spcAft>
            </a:pPr>
            <a:r>
              <a:rPr sz="1600" b="0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出题必须能在原文查到依据</a:t>
            </a:r>
            <a:endParaRPr sz="1600" b="0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ts val="2110"/>
              </a:lnSpc>
              <a:spcAft>
                <a:spcPts val="2400"/>
              </a:spcAft>
            </a:pPr>
            <a:endParaRPr sz="1600" b="0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>
            <p:custDataLst>
              <p:tags r:id="rId8"/>
            </p:custDataLst>
          </p:nvPr>
        </p:nvSpPr>
        <p:spPr>
          <a:xfrm>
            <a:off x="6091275" y="2176272"/>
            <a:ext cx="9144" cy="3584448"/>
          </a:xfrm>
          <a:prstGeom prst="rect">
            <a:avLst/>
          </a:prstGeom>
          <a:solidFill>
            <a:srgbClr val="DFCD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6236208"/>
            <a:ext cx="11057839" cy="9144"/>
          </a:xfrm>
          <a:prstGeom prst="rect">
            <a:avLst/>
          </a:prstGeom>
          <a:solidFill>
            <a:srgbClr val="DFCD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38251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1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</a:t>
            </a:r>
            <a:endParaRPr sz="11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450"/>
              </a:lnSpc>
            </a:pPr>
            <a:r>
              <a:rPr sz="11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/ 10</a:t>
            </a:r>
            <a:endParaRPr sz="11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AD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4" name="Picture 3" descr="crab_c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727" y="2651760"/>
            <a:ext cx="3749039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0"/>
            <a:ext cx="67665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450"/>
              </a:lnSpc>
            </a:pPr>
            <a:r>
              <a:rPr sz="6400" b="1">
                <a:solidFill>
                  <a:srgbClr val="2A1F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谢谢观看</a:t>
            </a:r>
            <a:endParaRPr sz="6400" b="1">
              <a:solidFill>
                <a:srgbClr val="2A1F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3794760"/>
            <a:ext cx="676656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0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小蟹学习助手：边听课边把不懂的钉在时间轴上，回头一点就回到那一秒。</a:t>
            </a:r>
            <a:endParaRPr sz="20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5257800"/>
            <a:ext cx="45720" cy="512064"/>
          </a:xfrm>
          <a:prstGeom prst="rect">
            <a:avLst/>
          </a:prstGeom>
          <a:solidFill>
            <a:srgbClr val="C4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6236208"/>
            <a:ext cx="11057839" cy="9144"/>
          </a:xfrm>
          <a:prstGeom prst="rect">
            <a:avLst/>
          </a:prstGeom>
          <a:solidFill>
            <a:srgbClr val="DFCD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38251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1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结束</a:t>
            </a:r>
            <a:endParaRPr sz="11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450"/>
              </a:lnSpc>
            </a:pPr>
            <a:r>
              <a:rPr sz="1100" b="0">
                <a:solidFill>
                  <a:srgbClr val="5A4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/ 10</a:t>
            </a:r>
            <a:endParaRPr sz="1100" b="0">
              <a:solidFill>
                <a:srgbClr val="5A4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145.43999999999997,&quot;left&quot;:44.64,&quot;top&quot;:292.32,&quot;width&quot;:704.1600000000001}"/>
</p:tagLst>
</file>

<file path=ppt/tags/tag2.xml><?xml version="1.0" encoding="utf-8"?>
<p:tagLst xmlns:p="http://schemas.openxmlformats.org/presentationml/2006/main">
  <p:tag name="KSO_WM_DIAGRAM_VIRTUALLY_FRAME" val="{&quot;height&quot;:145.43999999999997,&quot;left&quot;:44.64,&quot;top&quot;:292.32,&quot;width&quot;:704.1600000000001}"/>
</p:tagLst>
</file>

<file path=ppt/tags/tag3.xml><?xml version="1.0" encoding="utf-8"?>
<p:tagLst xmlns:p="http://schemas.openxmlformats.org/presentationml/2006/main">
  <p:tag name="KSO_WM_DIAGRAM_VIRTUALLY_FRAME" val="{&quot;height&quot;:145.43999999999997,&quot;left&quot;:44.64,&quot;top&quot;:292.32,&quot;width&quot;:704.1600000000001}"/>
</p:tagLst>
</file>

<file path=ppt/tags/tag4.xml><?xml version="1.0" encoding="utf-8"?>
<p:tagLst xmlns:p="http://schemas.openxmlformats.org/presentationml/2006/main">
  <p:tag name="KSO_WM_DIAGRAM_VIRTUALLY_FRAME" val="{&quot;height&quot;:145.43999999999997,&quot;left&quot;:44.64,&quot;top&quot;:292.32,&quot;width&quot;:704.1600000000001}"/>
</p:tagLst>
</file>

<file path=ppt/tags/tag5.xml><?xml version="1.0" encoding="utf-8"?>
<p:tagLst xmlns:p="http://schemas.openxmlformats.org/presentationml/2006/main">
  <p:tag name="KSO_WM_DIAGRAM_VIRTUALLY_FRAME" val="{&quot;height&quot;:145.43999999999997,&quot;left&quot;:44.64,&quot;top&quot;:292.32,&quot;width&quot;:704.1600000000001}"/>
</p:tagLst>
</file>

<file path=ppt/tags/tag6.xml><?xml version="1.0" encoding="utf-8"?>
<p:tagLst xmlns:p="http://schemas.openxmlformats.org/presentationml/2006/main">
  <p:tag name="KSO_WM_DIAGRAM_VIRTUALLY_FRAME" val="{&quot;height&quot;:145.43999999999997,&quot;left&quot;:44.64,&quot;top&quot;:292.32,&quot;width&quot;:704.1600000000001}"/>
</p:tagLst>
</file>

<file path=ppt/tags/tag7.xml><?xml version="1.0" encoding="utf-8"?>
<p:tagLst xmlns:p="http://schemas.openxmlformats.org/presentationml/2006/main">
  <p:tag name="KSO_WM_DIAGRAM_VIRTUALLY_FRAME" val="{&quot;height&quot;:311.04,&quot;left&quot;:44.64,&quot;top&quot;:156.95999999999998,&quot;width&quot;:870.695905511811}"/>
</p:tagLst>
</file>

<file path=ppt/tags/tag8.xml><?xml version="1.0" encoding="utf-8"?>
<p:tagLst xmlns:p="http://schemas.openxmlformats.org/presentationml/2006/main">
  <p:tag name="KSO_WM_DIAGRAM_VIRTUALLY_FRAME" val="{&quot;height&quot;:311.04,&quot;left&quot;:44.64,&quot;top&quot;:156.95999999999998,&quot;width&quot;:870.695905511811}"/>
</p:tagLst>
</file>

<file path=ppt/tags/tag9.xml><?xml version="1.0" encoding="utf-8"?>
<p:tagLst xmlns:p="http://schemas.openxmlformats.org/presentationml/2006/main">
  <p:tag name="KSO_WM_DIAGRAM_VIRTUALLY_FRAME" val="{&quot;height&quot;:311.04,&quot;left&quot;:44.64,&quot;top&quot;:156.95999999999998,&quot;width&quot;:870.695905511811}"/>
</p:tagLst>
</file>

<file path=ppt/tags/tag10.xml><?xml version="1.0" encoding="utf-8"?>
<p:tagLst xmlns:p="http://schemas.openxmlformats.org/presentationml/2006/main">
  <p:tag name="KSO_WM_DIAGRAM_VIRTUALLY_FRAME" val="{&quot;height&quot;:311.04,&quot;left&quot;:44.64,&quot;top&quot;:156.95999999999998,&quot;width&quot;:870.695905511811}"/>
</p:tagLst>
</file>

<file path=ppt/tags/tag11.xml><?xml version="1.0" encoding="utf-8"?>
<p:tagLst xmlns:p="http://schemas.openxmlformats.org/presentationml/2006/main">
  <p:tag name="KSO_WM_DIAGRAM_VIRTUALLY_FRAME" val="{&quot;height&quot;:311.04,&quot;left&quot;:44.64,&quot;top&quot;:156.95999999999998,&quot;width&quot;:870.695905511811}"/>
</p:tagLst>
</file>

<file path=ppt/tags/tag12.xml><?xml version="1.0" encoding="utf-8"?>
<p:tagLst xmlns:p="http://schemas.openxmlformats.org/presentationml/2006/main">
  <p:tag name="KSO_WM_DIAGRAM_VIRTUALLY_FRAME" val="{&quot;height&quot;:311.04,&quot;left&quot;:44.64,&quot;top&quot;:156.95999999999998,&quot;width&quot;:870.695905511811}"/>
</p:tagLst>
</file>

<file path=ppt/tags/tag13.xml><?xml version="1.0" encoding="utf-8"?>
<p:tagLst xmlns:p="http://schemas.openxmlformats.org/presentationml/2006/main">
  <p:tag name="KSO_WM_DIAGRAM_VIRTUALLY_FRAME" val="{&quot;height&quot;:311.04,&quot;left&quot;:44.64,&quot;top&quot;:156.95999999999998,&quot;width&quot;:870.69590551181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1616</Words>
  <Application>WPS 演示</Application>
  <PresentationFormat>On-screen Show (4:3)</PresentationFormat>
  <Paragraphs>245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石治</cp:lastModifiedBy>
  <cp:revision>2</cp:revision>
  <dcterms:created xsi:type="dcterms:W3CDTF">2013-01-27T09:14:00Z</dcterms:created>
  <dcterms:modified xsi:type="dcterms:W3CDTF">2026-10-27T13:43:43Z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A532FCED19034F39A2DD3B4BBCB76998_12</vt:lpwstr>
  </property>
</Properties>
</file>